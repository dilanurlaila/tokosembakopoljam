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1330" y="0"/>
            <a:ext cx="172769" cy="10994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0"/>
            <a:ext cx="4177883" cy="1099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06" y="1240799"/>
            <a:ext cx="20088393" cy="65966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06" y="1240799"/>
            <a:ext cx="20088393" cy="65966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706" y="4476303"/>
            <a:ext cx="20088393" cy="28271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706" y="4476303"/>
            <a:ext cx="20088393" cy="282713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5706" y="5167381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931330" y="0"/>
            <a:ext cx="172769" cy="109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57016" y="5003508"/>
            <a:ext cx="1920875" cy="555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Relationship Id="rId10" Type="http://schemas.openxmlformats.org/officeDocument/2006/relationships/image" Target="../media/image17.png"/><Relationship Id="rId11" Type="http://schemas.openxmlformats.org/officeDocument/2006/relationships/image" Target="../media/image18.jpg"/><Relationship Id="rId12" Type="http://schemas.openxmlformats.org/officeDocument/2006/relationships/image" Target="../media/image19.jpg"/><Relationship Id="rId13" Type="http://schemas.openxmlformats.org/officeDocument/2006/relationships/image" Target="../media/image20.jpg"/><Relationship Id="rId14" Type="http://schemas.openxmlformats.org/officeDocument/2006/relationships/image" Target="../media/image2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image" Target="../media/image36.png"/><Relationship Id="rId17" Type="http://schemas.openxmlformats.org/officeDocument/2006/relationships/image" Target="../media/image37.png"/><Relationship Id="rId18" Type="http://schemas.openxmlformats.org/officeDocument/2006/relationships/image" Target="../media/image38.png"/><Relationship Id="rId19" Type="http://schemas.openxmlformats.org/officeDocument/2006/relationships/image" Target="../media/image39.png"/><Relationship Id="rId20" Type="http://schemas.openxmlformats.org/officeDocument/2006/relationships/image" Target="../media/image40.png"/><Relationship Id="rId21" Type="http://schemas.openxmlformats.org/officeDocument/2006/relationships/image" Target="../media/image41.png"/><Relationship Id="rId22" Type="http://schemas.openxmlformats.org/officeDocument/2006/relationships/image" Target="../media/image4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jpg"/><Relationship Id="rId8" Type="http://schemas.openxmlformats.org/officeDocument/2006/relationships/image" Target="../media/image48.jp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jpg"/><Relationship Id="rId3" Type="http://schemas.openxmlformats.org/officeDocument/2006/relationships/image" Target="../media/image1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jpg"/><Relationship Id="rId7" Type="http://schemas.openxmlformats.org/officeDocument/2006/relationships/image" Target="../media/image56.png"/><Relationship Id="rId8" Type="http://schemas.openxmlformats.org/officeDocument/2006/relationships/image" Target="../media/image57.jpg"/><Relationship Id="rId9" Type="http://schemas.openxmlformats.org/officeDocument/2006/relationships/image" Target="../media/image58.jpg"/><Relationship Id="rId10" Type="http://schemas.openxmlformats.org/officeDocument/2006/relationships/image" Target="../media/image59.jpg"/><Relationship Id="rId11" Type="http://schemas.openxmlformats.org/officeDocument/2006/relationships/image" Target="../media/image60.jpg"/><Relationship Id="rId12" Type="http://schemas.openxmlformats.org/officeDocument/2006/relationships/image" Target="../media/image6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62.jpg"/><Relationship Id="rId6" Type="http://schemas.openxmlformats.org/officeDocument/2006/relationships/image" Target="../media/image63.png"/><Relationship Id="rId7" Type="http://schemas.openxmlformats.org/officeDocument/2006/relationships/image" Target="../media/image64.jpg"/><Relationship Id="rId8" Type="http://schemas.openxmlformats.org/officeDocument/2006/relationships/image" Target="../media/image65.jp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Relationship Id="rId14" Type="http://schemas.openxmlformats.org/officeDocument/2006/relationships/image" Target="../media/image82.png"/><Relationship Id="rId15" Type="http://schemas.openxmlformats.org/officeDocument/2006/relationships/image" Target="../media/image83.png"/><Relationship Id="rId16" Type="http://schemas.openxmlformats.org/officeDocument/2006/relationships/image" Target="../media/image84.png"/><Relationship Id="rId17" Type="http://schemas.openxmlformats.org/officeDocument/2006/relationships/image" Target="../media/image85.png"/><Relationship Id="rId18" Type="http://schemas.openxmlformats.org/officeDocument/2006/relationships/image" Target="../media/image86.png"/><Relationship Id="rId19" Type="http://schemas.openxmlformats.org/officeDocument/2006/relationships/image" Target="../media/image87.png"/><Relationship Id="rId20" Type="http://schemas.openxmlformats.org/officeDocument/2006/relationships/image" Target="../media/image88.png"/><Relationship Id="rId21" Type="http://schemas.openxmlformats.org/officeDocument/2006/relationships/image" Target="../media/image89.png"/><Relationship Id="rId22" Type="http://schemas.openxmlformats.org/officeDocument/2006/relationships/image" Target="../media/image9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1330" y="0"/>
            <a:ext cx="172769" cy="10994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706" y="0"/>
            <a:ext cx="20088860" cy="110489"/>
            <a:chOff x="15706" y="0"/>
            <a:chExt cx="20088860" cy="110489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0"/>
              <a:ext cx="4177883" cy="10994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0"/>
              <a:ext cx="20088393" cy="109944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15706" y="1240799"/>
            <a:ext cx="20088860" cy="659765"/>
            <a:chOff x="15706" y="1240799"/>
            <a:chExt cx="20088860" cy="659765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1240799"/>
              <a:ext cx="20088393" cy="65966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1240799"/>
              <a:ext cx="20088393" cy="659665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879097" y="4083645"/>
            <a:ext cx="4209295" cy="78531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27978" y="4115058"/>
            <a:ext cx="4209295" cy="722491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15706" y="4083645"/>
            <a:ext cx="20088860" cy="785495"/>
            <a:chOff x="15706" y="4083645"/>
            <a:chExt cx="20088860" cy="785495"/>
          </a:xfrm>
        </p:grpSpPr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14035" y="4083645"/>
              <a:ext cx="4209295" cy="78531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06" y="4083645"/>
              <a:ext cx="20088393" cy="785316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19432" y="5560040"/>
            <a:ext cx="4209295" cy="39265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717012" y="5560040"/>
            <a:ext cx="4209295" cy="392658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5706" y="5560040"/>
            <a:ext cx="20088860" cy="393065"/>
            <a:chOff x="15706" y="5560040"/>
            <a:chExt cx="20088860" cy="393065"/>
          </a:xfrm>
        </p:grpSpPr>
        <p:pic>
          <p:nvPicPr>
            <p:cNvPr id="17" name="object 1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34480" y="5560040"/>
              <a:ext cx="4209295" cy="39265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706" y="5560040"/>
              <a:ext cx="20088393" cy="392658"/>
            </a:xfrm>
            <a:prstGeom prst="rect">
              <a:avLst/>
            </a:prstGeom>
          </p:spPr>
        </p:pic>
      </p:grpSp>
      <p:sp>
        <p:nvSpPr>
          <p:cNvPr id="19" name="object 19" descr=""/>
          <p:cNvSpPr/>
          <p:nvPr/>
        </p:nvSpPr>
        <p:spPr>
          <a:xfrm>
            <a:off x="15706" y="6533832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843204" y="6421004"/>
            <a:ext cx="394589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17650" algn="l"/>
              </a:tabLst>
            </a:pPr>
            <a:r>
              <a:rPr dirty="0" sz="2700" spc="-10">
                <a:solidFill>
                  <a:srgbClr val="E4E4E4"/>
                </a:solidFill>
                <a:latin typeface="Calibri"/>
                <a:cs typeface="Calibri"/>
              </a:rPr>
              <a:t>Membuat</a:t>
            </a:r>
            <a:r>
              <a:rPr dirty="0" sz="2700">
                <a:solidFill>
                  <a:srgbClr val="E4E4E4"/>
                </a:solidFill>
                <a:latin typeface="Calibri"/>
                <a:cs typeface="Calibri"/>
              </a:rPr>
              <a:t>	</a:t>
            </a:r>
            <a:r>
              <a:rPr dirty="0" sz="2700" spc="55">
                <a:solidFill>
                  <a:srgbClr val="DBDBDB"/>
                </a:solidFill>
                <a:latin typeface="Calibri"/>
                <a:cs typeface="Calibri"/>
              </a:rPr>
              <a:t>aplikasi</a:t>
            </a:r>
            <a:r>
              <a:rPr dirty="0" sz="2700" spc="295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2700" spc="55">
                <a:solidFill>
                  <a:srgbClr val="E4E4E4"/>
                </a:solidFill>
                <a:latin typeface="Calibri"/>
                <a:cs typeface="Calibri"/>
              </a:rPr>
              <a:t>tersedia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846377" y="6421004"/>
            <a:ext cx="440055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20">
                <a:solidFill>
                  <a:srgbClr val="EBEBEB"/>
                </a:solidFill>
                <a:latin typeface="Arial MT"/>
                <a:cs typeface="Arial MT"/>
              </a:rPr>
              <a:t>Memberikan</a:t>
            </a:r>
            <a:r>
              <a:rPr dirty="0" sz="2700" spc="-5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2700" spc="-35">
                <a:solidFill>
                  <a:srgbClr val="E2E2E2"/>
                </a:solidFill>
                <a:latin typeface="Arial MT"/>
                <a:cs typeface="Arial MT"/>
              </a:rPr>
              <a:t>value</a:t>
            </a:r>
            <a:r>
              <a:rPr dirty="0" sz="2700" spc="-8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700" spc="-25">
                <a:solidFill>
                  <a:srgbClr val="E6E6E6"/>
                </a:solidFill>
                <a:latin typeface="Arial MT"/>
                <a:cs typeface="Arial MT"/>
              </a:rPr>
              <a:t>nyata</a:t>
            </a:r>
            <a:r>
              <a:rPr dirty="0" sz="2700" spc="-8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700" spc="-30">
                <a:solidFill>
                  <a:srgbClr val="E1E1E1"/>
                </a:solidFill>
                <a:latin typeface="Arial MT"/>
                <a:cs typeface="Arial MT"/>
              </a:rPr>
              <a:t>bagi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4196234" y="6421004"/>
            <a:ext cx="414909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>
                <a:solidFill>
                  <a:srgbClr val="DFDFDF"/>
                </a:solidFill>
                <a:latin typeface="Calibri"/>
                <a:cs typeface="Calibri"/>
              </a:rPr>
              <a:t>Menjamin</a:t>
            </a:r>
            <a:r>
              <a:rPr dirty="0" sz="2700" spc="47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E4E4E4"/>
                </a:solidFill>
                <a:latin typeface="Calibri"/>
                <a:cs typeface="Calibri"/>
              </a:rPr>
              <a:t>software</a:t>
            </a:r>
            <a:r>
              <a:rPr dirty="0" sz="2700" spc="500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E1E1E1"/>
                </a:solidFill>
                <a:latin typeface="Calibri"/>
                <a:cs typeface="Calibri"/>
              </a:rPr>
              <a:t>berjalan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5706" y="7020728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724430" y="6923606"/>
            <a:ext cx="418211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>
                <a:solidFill>
                  <a:srgbClr val="DDDDDD"/>
                </a:solidFill>
                <a:latin typeface="Arial MT"/>
                <a:cs typeface="Arial MT"/>
              </a:rPr>
              <a:t>untuk</a:t>
            </a:r>
            <a:r>
              <a:rPr dirty="0" sz="2700" spc="-6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700" spc="-40">
                <a:solidFill>
                  <a:srgbClr val="E2E2E2"/>
                </a:solidFill>
                <a:latin typeface="Arial MT"/>
                <a:cs typeface="Arial MT"/>
              </a:rPr>
              <a:t>pengguna</a:t>
            </a:r>
            <a:r>
              <a:rPr dirty="0" sz="2700" spc="5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FDFDF"/>
                </a:solidFill>
                <a:latin typeface="Arial MT"/>
                <a:cs typeface="Arial MT"/>
              </a:rPr>
              <a:t>akhir</a:t>
            </a:r>
            <a:r>
              <a:rPr dirty="0" sz="2700" spc="6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DBDBDB"/>
                </a:solidFill>
                <a:latin typeface="Arial MT"/>
                <a:cs typeface="Arial MT"/>
              </a:rPr>
              <a:t>(end-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881873" y="6939967"/>
            <a:ext cx="432371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bisnis</a:t>
            </a:r>
            <a:r>
              <a:rPr dirty="0" sz="2550" spc="33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dan</a:t>
            </a:r>
            <a:r>
              <a:rPr dirty="0" sz="2550" spc="19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2E2E2"/>
                </a:solidFill>
                <a:latin typeface="Arial MT"/>
                <a:cs typeface="Arial MT"/>
              </a:rPr>
              <a:t>pengguna</a:t>
            </a:r>
            <a:r>
              <a:rPr dirty="0" sz="2550" spc="42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2E2E2"/>
                </a:solidFill>
                <a:latin typeface="Arial MT"/>
                <a:cs typeface="Arial MT"/>
              </a:rPr>
              <a:t>dengan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4071902" y="6939967"/>
            <a:ext cx="438848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aman</a:t>
            </a:r>
            <a:r>
              <a:rPr dirty="0" sz="2550" spc="18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di</a:t>
            </a:r>
            <a:r>
              <a:rPr dirty="0" sz="2550" spc="15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lingkungan</a:t>
            </a:r>
            <a:r>
              <a:rPr dirty="0" sz="2550" spc="38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8E8E8"/>
                </a:solidFill>
                <a:latin typeface="Arial MT"/>
                <a:cs typeface="Arial MT"/>
              </a:rPr>
              <a:t>produksi,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15706" y="7523331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2227033" y="7426209"/>
            <a:ext cx="316674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>
                <a:solidFill>
                  <a:srgbClr val="E6E6E6"/>
                </a:solidFill>
                <a:latin typeface="Arial MT"/>
                <a:cs typeface="Arial MT"/>
              </a:rPr>
              <a:t>user)</a:t>
            </a:r>
            <a:r>
              <a:rPr dirty="0" sz="2700" spc="5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700" spc="-45">
                <a:solidFill>
                  <a:srgbClr val="E6E6E6"/>
                </a:solidFill>
                <a:latin typeface="Arial MT"/>
                <a:cs typeface="Arial MT"/>
              </a:rPr>
              <a:t>sehingga</a:t>
            </a:r>
            <a:r>
              <a:rPr dirty="0" sz="2700" spc="7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700" spc="-75">
                <a:solidFill>
                  <a:srgbClr val="E4E4E4"/>
                </a:solidFill>
                <a:latin typeface="Arial MT"/>
                <a:cs typeface="Arial MT"/>
              </a:rPr>
              <a:t>dapat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720560" y="7426209"/>
            <a:ext cx="463105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0560" algn="l"/>
              </a:tabLst>
            </a:pPr>
            <a:r>
              <a:rPr dirty="0" sz="2700" spc="50">
                <a:solidFill>
                  <a:srgbClr val="DFDFDF"/>
                </a:solidFill>
                <a:latin typeface="Calibri"/>
                <a:cs typeface="Calibri"/>
              </a:rPr>
              <a:t>memastikan</a:t>
            </a:r>
            <a:r>
              <a:rPr dirty="0" sz="2700">
                <a:solidFill>
                  <a:srgbClr val="DFDFDF"/>
                </a:solidFill>
                <a:latin typeface="Calibri"/>
                <a:cs typeface="Calibri"/>
              </a:rPr>
              <a:t>	</a:t>
            </a:r>
            <a:r>
              <a:rPr dirty="0" sz="2700" spc="75">
                <a:solidFill>
                  <a:srgbClr val="E6E6E6"/>
                </a:solidFill>
                <a:latin typeface="Calibri"/>
                <a:cs typeface="Calibri"/>
              </a:rPr>
              <a:t>sistem</a:t>
            </a:r>
            <a:r>
              <a:rPr dirty="0" sz="2700" spc="330">
                <a:solidFill>
                  <a:srgbClr val="E6E6E6"/>
                </a:solidFill>
                <a:latin typeface="Calibri"/>
                <a:cs typeface="Calibri"/>
              </a:rPr>
              <a:t> </a:t>
            </a:r>
            <a:r>
              <a:rPr dirty="0" sz="2700" spc="55">
                <a:solidFill>
                  <a:srgbClr val="E1E1E1"/>
                </a:solidFill>
                <a:latin typeface="Calibri"/>
                <a:cs typeface="Calibri"/>
              </a:rPr>
              <a:t>beroperasi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4108199" y="7426209"/>
            <a:ext cx="431165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20">
                <a:solidFill>
                  <a:srgbClr val="E6E6E6"/>
                </a:solidFill>
                <a:latin typeface="Arial MT"/>
                <a:cs typeface="Arial MT"/>
              </a:rPr>
              <a:t>mengurangi</a:t>
            </a:r>
            <a:r>
              <a:rPr dirty="0" sz="2700" spc="4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risiko</a:t>
            </a:r>
            <a:r>
              <a:rPr dirty="0" sz="2700" spc="-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 spc="-70">
                <a:solidFill>
                  <a:srgbClr val="E4E4E4"/>
                </a:solidFill>
                <a:latin typeface="Arial MT"/>
                <a:cs typeface="Arial MT"/>
              </a:rPr>
              <a:t>kegagalan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15706" y="8041640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2272171" y="7928812"/>
            <a:ext cx="308991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27250" algn="l"/>
              </a:tabLst>
            </a:pPr>
            <a:r>
              <a:rPr dirty="0" sz="2700" spc="-10">
                <a:solidFill>
                  <a:srgbClr val="E8E8E8"/>
                </a:solidFill>
                <a:latin typeface="Calibri"/>
                <a:cs typeface="Calibri"/>
              </a:rPr>
              <a:t>dimanfaatkan</a:t>
            </a:r>
            <a:r>
              <a:rPr dirty="0" sz="2700">
                <a:solidFill>
                  <a:srgbClr val="E8E8E8"/>
                </a:solidFill>
                <a:latin typeface="Calibri"/>
                <a:cs typeface="Calibri"/>
              </a:rPr>
              <a:t>	</a:t>
            </a:r>
            <a:r>
              <a:rPr dirty="0" sz="2700" spc="95">
                <a:solidFill>
                  <a:srgbClr val="E6E6E6"/>
                </a:solidFill>
                <a:latin typeface="Calibri"/>
                <a:cs typeface="Calibri"/>
              </a:rPr>
              <a:t>sesuai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541271" y="7912451"/>
            <a:ext cx="98996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10">
                <a:solidFill>
                  <a:srgbClr val="E2E2E2"/>
                </a:solidFill>
                <a:latin typeface="Calibri"/>
                <a:cs typeface="Calibri"/>
              </a:rPr>
              <a:t>lancar.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5440221" y="7928812"/>
            <a:ext cx="164274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110">
                <a:solidFill>
                  <a:srgbClr val="E8E8E8"/>
                </a:solidFill>
                <a:latin typeface="Calibri"/>
                <a:cs typeface="Calibri"/>
              </a:rPr>
              <a:t>pasca-</a:t>
            </a:r>
            <a:r>
              <a:rPr dirty="0" sz="2700" spc="60">
                <a:solidFill>
                  <a:srgbClr val="E8E8E8"/>
                </a:solidFill>
                <a:latin typeface="Calibri"/>
                <a:cs typeface="Calibri"/>
              </a:rPr>
              <a:t>rilis.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15706" y="8559948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40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2969395" y="8431414"/>
            <a:ext cx="166814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0">
                <a:solidFill>
                  <a:srgbClr val="E2E2E2"/>
                </a:solidFill>
                <a:latin typeface="Calibri"/>
                <a:cs typeface="Calibri"/>
              </a:rPr>
              <a:t>kebutuhan.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38255" y="5019869"/>
            <a:ext cx="1934845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905">
                <a:solidFill>
                  <a:srgbClr val="FFFFFF"/>
                </a:solidFill>
                <a:latin typeface="Consolas"/>
                <a:cs typeface="Consolas"/>
              </a:rPr>
              <a:t>1.</a:t>
            </a:r>
            <a:r>
              <a:rPr dirty="0" sz="3350" spc="-11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3350" spc="-475">
                <a:solidFill>
                  <a:srgbClr val="FFFFFF"/>
                </a:solidFill>
                <a:latin typeface="Consolas"/>
                <a:cs typeface="Consolas"/>
              </a:rPr>
              <a:t>PERSIAPAN</a:t>
            </a:r>
            <a:endParaRPr sz="3350">
              <a:latin typeface="Consolas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45"/>
              <a:t>2.PENGUJIAN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228986" y="5052590"/>
            <a:ext cx="2321560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r>
              <a:rPr dirty="0" sz="3100" spc="-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100" spc="-210">
                <a:solidFill>
                  <a:srgbClr val="FFFFFF"/>
                </a:solidFill>
                <a:latin typeface="Calibri"/>
                <a:cs typeface="Calibri"/>
              </a:rPr>
              <a:t>KONFIGURASI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191047" y="5019869"/>
            <a:ext cx="1875155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725">
                <a:solidFill>
                  <a:srgbClr val="FFFFFF"/>
                </a:solidFill>
                <a:latin typeface="Courier New"/>
                <a:cs typeface="Courier New"/>
              </a:rPr>
              <a:t>4.|NSTAtAS|</a:t>
            </a:r>
            <a:endParaRPr sz="3350">
              <a:latin typeface="Courier New"/>
              <a:cs typeface="Courier New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5706" y="5921285"/>
            <a:ext cx="20088860" cy="283210"/>
            <a:chOff x="15706" y="5921285"/>
            <a:chExt cx="20088860" cy="28321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78540" y="6078349"/>
              <a:ext cx="3125559" cy="9423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66642" y="6046936"/>
              <a:ext cx="4209295" cy="9423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6379" y="6015523"/>
              <a:ext cx="4303533" cy="15706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9164" y="6015523"/>
              <a:ext cx="4209295" cy="15706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5921285"/>
              <a:ext cx="20088393" cy="282713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15706" y="6329650"/>
            <a:ext cx="20088860" cy="283210"/>
            <a:chOff x="15706" y="6329650"/>
            <a:chExt cx="20088860" cy="283210"/>
          </a:xfrm>
        </p:grpSpPr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66085" y="6329650"/>
              <a:ext cx="4900374" cy="25130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34297" y="6423888"/>
              <a:ext cx="4209295" cy="12565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26116" y="6329650"/>
              <a:ext cx="6094055" cy="25130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06" y="6329650"/>
              <a:ext cx="20088393" cy="282713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15706" y="6706602"/>
            <a:ext cx="20088860" cy="298450"/>
            <a:chOff x="15706" y="6706602"/>
            <a:chExt cx="20088860" cy="298450"/>
          </a:xfrm>
        </p:grpSpPr>
        <p:pic>
          <p:nvPicPr>
            <p:cNvPr id="18" name="object 1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826682" y="6753721"/>
              <a:ext cx="2277417" cy="21988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81325" y="6785133"/>
              <a:ext cx="4209295" cy="18847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26490" y="6753721"/>
              <a:ext cx="4209295" cy="251301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06227" y="6879371"/>
              <a:ext cx="4209295" cy="9423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706" y="6706602"/>
              <a:ext cx="20088393" cy="298420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15706" y="7130673"/>
            <a:ext cx="20088860" cy="283210"/>
            <a:chOff x="15706" y="7130673"/>
            <a:chExt cx="20088860" cy="283210"/>
          </a:xfrm>
        </p:grpSpPr>
        <p:pic>
          <p:nvPicPr>
            <p:cNvPr id="24" name="object 2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167016" y="7287736"/>
              <a:ext cx="2937083" cy="94237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172404" y="7162085"/>
              <a:ext cx="4429184" cy="157063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80951" y="7162085"/>
              <a:ext cx="4209295" cy="21988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86339" y="7193498"/>
              <a:ext cx="4209295" cy="188475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706" y="7130673"/>
              <a:ext cx="20088393" cy="282713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15706" y="7523331"/>
            <a:ext cx="20088860" cy="220345"/>
            <a:chOff x="15706" y="7523331"/>
            <a:chExt cx="20088860" cy="220345"/>
          </a:xfrm>
        </p:grpSpPr>
        <p:pic>
          <p:nvPicPr>
            <p:cNvPr id="30" name="object 3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706" y="7523331"/>
              <a:ext cx="20088393" cy="219888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706" y="7523331"/>
              <a:ext cx="20088393" cy="2198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1330" y="0"/>
            <a:ext cx="172769" cy="10994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706" y="0"/>
            <a:ext cx="20088860" cy="110489"/>
            <a:chOff x="15706" y="0"/>
            <a:chExt cx="20088860" cy="110489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0"/>
              <a:ext cx="4177883" cy="10994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0"/>
              <a:ext cx="20088393" cy="109944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15706" y="1240799"/>
            <a:ext cx="20088860" cy="659765"/>
            <a:chOff x="15706" y="1240799"/>
            <a:chExt cx="20088860" cy="659765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1240799"/>
              <a:ext cx="20088393" cy="65966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1240799"/>
              <a:ext cx="20088393" cy="659665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35786" y="5026025"/>
            <a:ext cx="5277326" cy="486896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15706" y="5026025"/>
            <a:ext cx="20088860" cy="487045"/>
            <a:chOff x="15706" y="5026025"/>
            <a:chExt cx="20088860" cy="487045"/>
          </a:xfrm>
        </p:grpSpPr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4926" y="5026025"/>
              <a:ext cx="6345356" cy="48689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06" y="5026025"/>
              <a:ext cx="20088393" cy="486896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15706" y="6015523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580765" y="5934762"/>
            <a:ext cx="606552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798445" algn="l"/>
                <a:tab pos="3903979" algn="l"/>
              </a:tabLst>
            </a:pPr>
            <a:r>
              <a:rPr dirty="0" sz="2550">
                <a:solidFill>
                  <a:srgbClr val="E8E8E8"/>
                </a:solidFill>
                <a:latin typeface="Arial MT"/>
                <a:cs typeface="Arial MT"/>
              </a:rPr>
              <a:t>Memantau</a:t>
            </a:r>
            <a:r>
              <a:rPr dirty="0" sz="2550" spc="39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4E4E4"/>
                </a:solidFill>
                <a:latin typeface="Arial MT"/>
                <a:cs typeface="Arial MT"/>
              </a:rPr>
              <a:t>kinerja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E1E1E1"/>
                </a:solidFill>
                <a:latin typeface="Arial MT"/>
                <a:cs typeface="Arial MT"/>
              </a:rPr>
              <a:t>sistem</a:t>
            </a:r>
            <a:r>
              <a:rPr dirty="0" sz="2550">
                <a:solidFill>
                  <a:srgbClr val="E1E1E1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(respons</a:t>
            </a:r>
            <a:r>
              <a:rPr dirty="0" sz="2550" spc="459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 spc="40">
                <a:solidFill>
                  <a:srgbClr val="DFDFDF"/>
                </a:solidFill>
                <a:latin typeface="Arial MT"/>
                <a:cs typeface="Arial MT"/>
              </a:rPr>
              <a:t>time,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161630" y="5934762"/>
            <a:ext cx="7055484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11300" algn="l"/>
                <a:tab pos="3912870" algn="l"/>
              </a:tabLst>
            </a:pPr>
            <a:r>
              <a:rPr dirty="0" sz="2550" spc="-10">
                <a:solidFill>
                  <a:srgbClr val="E6E6E6"/>
                </a:solidFill>
                <a:latin typeface="Arial MT"/>
                <a:cs typeface="Arial MT"/>
              </a:rPr>
              <a:t>Membuat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	Panduan</a:t>
            </a:r>
            <a:r>
              <a:rPr dirty="0" sz="2550" spc="-4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1E1E1"/>
                </a:solidFill>
                <a:latin typeface="Arial MT"/>
                <a:cs typeface="Arial MT"/>
              </a:rPr>
              <a:t>teknis</a:t>
            </a:r>
            <a:r>
              <a:rPr dirty="0" sz="2550">
                <a:solidFill>
                  <a:srgbClr val="E1E1E1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dan</a:t>
            </a:r>
            <a:r>
              <a:rPr dirty="0" sz="2550" spc="16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rencana</a:t>
            </a:r>
            <a:r>
              <a:rPr dirty="0" sz="2550" spc="19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DFDFDF"/>
                </a:solidFill>
                <a:latin typeface="Arial MT"/>
                <a:cs typeface="Arial MT"/>
              </a:rPr>
              <a:t>Disaster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5706" y="6518126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583803" y="6437365"/>
            <a:ext cx="7004684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574925" algn="l"/>
                <a:tab pos="6303010" algn="l"/>
              </a:tabLst>
            </a:pP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resource</a:t>
            </a:r>
            <a:r>
              <a:rPr dirty="0" sz="2550" spc="-35">
                <a:solidFill>
                  <a:srgbClr val="DFDFDF"/>
                </a:solidFill>
                <a:latin typeface="Arial MT"/>
                <a:cs typeface="Arial MT"/>
              </a:rPr>
              <a:t>  </a:t>
            </a:r>
            <a:r>
              <a:rPr dirty="0" sz="2550" spc="-10">
                <a:solidFill>
                  <a:srgbClr val="DDDDDD"/>
                </a:solidFill>
                <a:latin typeface="Arial MT"/>
                <a:cs typeface="Arial MT"/>
              </a:rPr>
              <a:t>usage)</a:t>
            </a: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D4D4D4"/>
                </a:solidFill>
                <a:latin typeface="Arial MT"/>
                <a:cs typeface="Arial MT"/>
              </a:rPr>
              <a:t>dan</a:t>
            </a:r>
            <a:r>
              <a:rPr dirty="0" sz="2550" spc="15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menangani</a:t>
            </a:r>
            <a:r>
              <a:rPr dirty="0" sz="2550" spc="22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DADADA"/>
                </a:solidFill>
                <a:latin typeface="Arial MT"/>
                <a:cs typeface="Arial MT"/>
              </a:rPr>
              <a:t>masalah</a:t>
            </a:r>
            <a:r>
              <a:rPr dirty="0" sz="2550">
                <a:solidFill>
                  <a:srgbClr val="DADADA"/>
                </a:solidFill>
                <a:latin typeface="Arial MT"/>
                <a:cs typeface="Arial MT"/>
              </a:rPr>
              <a:t>	</a:t>
            </a:r>
            <a:r>
              <a:rPr dirty="0" sz="2550" spc="-20">
                <a:solidFill>
                  <a:srgbClr val="E2E2E2"/>
                </a:solidFill>
                <a:latin typeface="Arial MT"/>
                <a:cs typeface="Arial MT"/>
              </a:rPr>
              <a:t>yang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160193" y="6437365"/>
            <a:ext cx="678180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716145" algn="l"/>
              </a:tabLst>
            </a:pPr>
            <a:r>
              <a:rPr dirty="0" sz="2550">
                <a:solidFill>
                  <a:srgbClr val="E2E2E2"/>
                </a:solidFill>
                <a:latin typeface="Arial MT"/>
                <a:cs typeface="Arial MT"/>
              </a:rPr>
              <a:t>Recovery.</a:t>
            </a:r>
            <a:r>
              <a:rPr dirty="0" sz="2550" spc="22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Backup</a:t>
            </a:r>
            <a:r>
              <a:rPr dirty="0" sz="2550" spc="20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2E2E2"/>
                </a:solidFill>
                <a:latin typeface="Arial MT"/>
                <a:cs typeface="Arial MT"/>
              </a:rPr>
              <a:t>data</a:t>
            </a:r>
            <a:r>
              <a:rPr dirty="0" sz="2550" spc="11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DFDFDF"/>
                </a:solidFill>
                <a:latin typeface="Arial MT"/>
                <a:cs typeface="Arial MT"/>
              </a:rPr>
              <a:t>reguler</a:t>
            </a: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E1E1E1"/>
                </a:solidFill>
                <a:latin typeface="Arial MT"/>
                <a:cs typeface="Arial MT"/>
              </a:rPr>
              <a:t>sangat</a:t>
            </a:r>
            <a:r>
              <a:rPr dirty="0" sz="2550" spc="17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6E6E6"/>
                </a:solidFill>
                <a:latin typeface="Arial MT"/>
                <a:cs typeface="Arial MT"/>
              </a:rPr>
              <a:t>krusial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5706" y="7036434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582402" y="6923606"/>
            <a:ext cx="640969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0">
                <a:solidFill>
                  <a:srgbClr val="E6E6E6"/>
                </a:solidFill>
                <a:latin typeface="Arial MT"/>
                <a:cs typeface="Arial MT"/>
              </a:rPr>
              <a:t>muncul. </a:t>
            </a:r>
            <a:r>
              <a:rPr dirty="0" sz="2700" spc="-65">
                <a:solidFill>
                  <a:srgbClr val="E4E4E4"/>
                </a:solidFill>
                <a:latin typeface="Arial MT"/>
                <a:cs typeface="Arial MT"/>
              </a:rPr>
              <a:t>Feedback</a:t>
            </a:r>
            <a:r>
              <a:rPr dirty="0" sz="2700" spc="3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DDDDD"/>
                </a:solidFill>
                <a:latin typeface="Arial MT"/>
                <a:cs typeface="Arial MT"/>
              </a:rPr>
              <a:t>dari</a:t>
            </a:r>
            <a:r>
              <a:rPr dirty="0" sz="2700" spc="-13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8E8E8"/>
                </a:solidFill>
                <a:latin typeface="Arial MT"/>
                <a:cs typeface="Arial MT"/>
              </a:rPr>
              <a:t>user</a:t>
            </a:r>
            <a:r>
              <a:rPr dirty="0" sz="2700" spc="-2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E6E6E6"/>
                </a:solidFill>
                <a:latin typeface="Arial MT"/>
                <a:cs typeface="Arial MT"/>
              </a:rPr>
              <a:t>menjadi</a:t>
            </a:r>
            <a:r>
              <a:rPr dirty="0" sz="2700" spc="-6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700" spc="-80">
                <a:solidFill>
                  <a:srgbClr val="E6E6E6"/>
                </a:solidFill>
                <a:latin typeface="Arial MT"/>
                <a:cs typeface="Arial MT"/>
              </a:rPr>
              <a:t>acuan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157129" y="6939967"/>
            <a:ext cx="606488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986655" algn="l"/>
              </a:tabLst>
            </a:pPr>
            <a:r>
              <a:rPr dirty="0" sz="2550" spc="55">
                <a:solidFill>
                  <a:srgbClr val="E6E6E6"/>
                </a:solidFill>
                <a:latin typeface="Arial MT"/>
                <a:cs typeface="Arial MT"/>
              </a:rPr>
              <a:t>untu</a:t>
            </a:r>
            <a:r>
              <a:rPr dirty="0" sz="2550" spc="55">
                <a:solidFill>
                  <a:srgbClr val="E1E1E1"/>
                </a:solidFill>
                <a:latin typeface="Arial MT"/>
                <a:cs typeface="Arial MT"/>
              </a:rPr>
              <a:t>k</a:t>
            </a:r>
            <a:r>
              <a:rPr dirty="0" sz="2550" spc="30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melindungi</a:t>
            </a:r>
            <a:r>
              <a:rPr dirty="0" sz="2550" spc="45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dari</a:t>
            </a:r>
            <a:r>
              <a:rPr dirty="0" sz="2550" spc="25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6E6E6"/>
                </a:solidFill>
                <a:latin typeface="Arial MT"/>
                <a:cs typeface="Arial MT"/>
              </a:rPr>
              <a:t>kegagalan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DDDDDD"/>
                </a:solidFill>
                <a:latin typeface="Arial MT"/>
                <a:cs typeface="Arial MT"/>
              </a:rPr>
              <a:t>sistem.</a:t>
            </a:r>
            <a:endParaRPr sz="2550">
              <a:latin typeface="Arial MT"/>
              <a:cs typeface="Arial MT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5706" y="7539037"/>
            <a:ext cx="20088860" cy="330200"/>
            <a:chOff x="15706" y="7539037"/>
            <a:chExt cx="20088860" cy="330200"/>
          </a:xfrm>
        </p:grpSpPr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06" y="7539037"/>
              <a:ext cx="20088393" cy="329832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06" y="7539037"/>
              <a:ext cx="20088393" cy="3298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4334946"/>
            <a:ext cx="20088393" cy="78531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31330" y="0"/>
            <a:ext cx="172769" cy="109944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5706" y="0"/>
            <a:ext cx="20088860" cy="110489"/>
            <a:chOff x="15706" y="0"/>
            <a:chExt cx="20088860" cy="110489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0"/>
              <a:ext cx="4177883" cy="10994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0"/>
              <a:ext cx="20088393" cy="109944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15706" y="1240799"/>
            <a:ext cx="20088860" cy="659765"/>
            <a:chOff x="15706" y="1240799"/>
            <a:chExt cx="20088860" cy="659765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1240799"/>
              <a:ext cx="20088393" cy="65966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1240799"/>
              <a:ext cx="20088393" cy="659665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06227" y="5834900"/>
            <a:ext cx="2473746" cy="35339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14966" y="5834900"/>
            <a:ext cx="1185827" cy="35339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941923" y="5834900"/>
            <a:ext cx="2238151" cy="353392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15706" y="5811341"/>
            <a:ext cx="20088860" cy="393065"/>
            <a:chOff x="15706" y="5811341"/>
            <a:chExt cx="20088860" cy="393065"/>
          </a:xfrm>
        </p:grpSpPr>
        <p:pic>
          <p:nvPicPr>
            <p:cNvPr id="14" name="object 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79234" y="5819194"/>
              <a:ext cx="2010409" cy="36909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06" y="5811341"/>
              <a:ext cx="20088393" cy="392658"/>
            </a:xfrm>
            <a:prstGeom prst="rect">
              <a:avLst/>
            </a:prstGeom>
          </p:spPr>
        </p:pic>
      </p:grpSp>
      <p:sp>
        <p:nvSpPr>
          <p:cNvPr id="16" name="object 16" descr=""/>
          <p:cNvSpPr/>
          <p:nvPr/>
        </p:nvSpPr>
        <p:spPr>
          <a:xfrm>
            <a:off x="15706" y="7287736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15706" y="6785133"/>
          <a:ext cx="20156805" cy="1828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57190"/>
                <a:gridCol w="4472304"/>
                <a:gridCol w="4815205"/>
                <a:gridCol w="5335269"/>
              </a:tblGrid>
              <a:tr h="328930">
                <a:tc>
                  <a:txBody>
                    <a:bodyPr/>
                    <a:lstStyle/>
                    <a:p>
                      <a:pPr algn="ctr" marL="589915">
                        <a:lnSpc>
                          <a:spcPts val="2425"/>
                        </a:lnSpc>
                        <a:tabLst>
                          <a:tab pos="2940685" algn="l"/>
                        </a:tabLst>
                      </a:pPr>
                      <a:r>
                        <a:rPr dirty="0" sz="2550" spc="50">
                          <a:solidFill>
                            <a:srgbClr val="E2E2E2"/>
                          </a:solidFill>
                          <a:latin typeface="Calibri"/>
                          <a:cs typeface="Calibri"/>
                        </a:rPr>
                        <a:t>Di</a:t>
                      </a:r>
                      <a:r>
                        <a:rPr dirty="0" sz="2550" spc="210">
                          <a:solidFill>
                            <a:srgbClr val="E2E2E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75">
                          <a:solidFill>
                            <a:srgbClr val="E4E4E4"/>
                          </a:solidFill>
                          <a:latin typeface="Calibri"/>
                          <a:cs typeface="Calibri"/>
                        </a:rPr>
                        <a:t>infrastruktur</a:t>
                      </a:r>
                      <a:r>
                        <a:rPr dirty="0" sz="2550">
                          <a:solidFill>
                            <a:srgbClr val="E4E4E4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550" spc="55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lokal.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2425"/>
                        </a:lnSpc>
                      </a:pPr>
                      <a:r>
                        <a:rPr dirty="0" sz="2550" spc="175">
                          <a:solidFill>
                            <a:srgbClr val="DDDDDD"/>
                          </a:solidFill>
                          <a:latin typeface="Calibri"/>
                          <a:cs typeface="Calibri"/>
                        </a:rPr>
                        <a:t>AWS,</a:t>
                      </a:r>
                      <a:r>
                        <a:rPr dirty="0" sz="2550" spc="320">
                          <a:solidFill>
                            <a:srgbClr val="DDDDD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160">
                          <a:solidFill>
                            <a:srgbClr val="E9E9E9"/>
                          </a:solidFill>
                          <a:latin typeface="Calibri"/>
                          <a:cs typeface="Calibri"/>
                        </a:rPr>
                        <a:t>Azure,</a:t>
                      </a:r>
                      <a:r>
                        <a:rPr dirty="0" sz="2550" spc="405">
                          <a:solidFill>
                            <a:srgbClr val="E9E9E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180">
                          <a:solidFill>
                            <a:srgbClr val="E9E9E9"/>
                          </a:solidFill>
                          <a:latin typeface="Calibri"/>
                          <a:cs typeface="Calibri"/>
                        </a:rPr>
                        <a:t>GCP.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0960">
                        <a:lnSpc>
                          <a:spcPts val="2435"/>
                        </a:lnSpc>
                      </a:pPr>
                      <a:r>
                        <a:rPr dirty="0" sz="2700" spc="65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Docker/K8s.</a:t>
                      </a:r>
                      <a:r>
                        <a:rPr dirty="0" sz="2700" spc="400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0">
                          <a:solidFill>
                            <a:srgbClr val="E4E4E4"/>
                          </a:solidFill>
                          <a:latin typeface="Calibri"/>
                          <a:cs typeface="Calibri"/>
                        </a:rPr>
                        <a:t>Portabel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24535">
                        <a:lnSpc>
                          <a:spcPts val="2435"/>
                        </a:lnSpc>
                      </a:pPr>
                      <a:r>
                        <a:rPr dirty="0" sz="2700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Tanpa</a:t>
                      </a:r>
                      <a:r>
                        <a:rPr dirty="0" sz="2700" spc="330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50">
                          <a:solidFill>
                            <a:srgbClr val="E2E2E2"/>
                          </a:solidFill>
                          <a:latin typeface="Calibri"/>
                          <a:cs typeface="Calibri"/>
                        </a:rPr>
                        <a:t>kelola</a:t>
                      </a:r>
                      <a:r>
                        <a:rPr dirty="0" sz="2700" spc="405">
                          <a:solidFill>
                            <a:srgbClr val="E2E2E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60">
                          <a:solidFill>
                            <a:srgbClr val="E8E8E8"/>
                          </a:solidFill>
                          <a:latin typeface="Calibri"/>
                          <a:cs typeface="Calibri"/>
                        </a:rPr>
                        <a:t>server.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1D283B"/>
                    </a:solidFill>
                  </a:tcPr>
                </a:tc>
              </a:tr>
              <a:tr h="494665">
                <a:tc>
                  <a:txBody>
                    <a:bodyPr/>
                    <a:lstStyle/>
                    <a:p>
                      <a:pPr algn="ctr" marL="585470">
                        <a:lnSpc>
                          <a:spcPts val="3220"/>
                        </a:lnSpc>
                        <a:spcBef>
                          <a:spcPts val="640"/>
                        </a:spcBef>
                      </a:pPr>
                      <a:r>
                        <a:rPr dirty="0" sz="2700">
                          <a:solidFill>
                            <a:srgbClr val="E4E4E4"/>
                          </a:solidFill>
                          <a:latin typeface="Calibri"/>
                          <a:cs typeface="Calibri"/>
                        </a:rPr>
                        <a:t>Kontrol</a:t>
                      </a:r>
                      <a:r>
                        <a:rPr dirty="0" sz="2700" spc="330">
                          <a:solidFill>
                            <a:srgbClr val="E4E4E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0">
                          <a:solidFill>
                            <a:srgbClr val="DDDDDD"/>
                          </a:solidFill>
                          <a:latin typeface="Calibri"/>
                          <a:cs typeface="Calibri"/>
                        </a:rPr>
                        <a:t>penuh,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81280"/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790"/>
                        </a:spcBef>
                        <a:tabLst>
                          <a:tab pos="1779270" algn="l"/>
                        </a:tabLst>
                      </a:pPr>
                      <a:r>
                        <a:rPr dirty="0" sz="2550" spc="-10">
                          <a:solidFill>
                            <a:srgbClr val="E9E9E9"/>
                          </a:solidFill>
                          <a:latin typeface="Arial MT"/>
                          <a:cs typeface="Arial MT"/>
                        </a:rPr>
                        <a:t>Skalabilitas</a:t>
                      </a:r>
                      <a:r>
                        <a:rPr dirty="0" sz="2550">
                          <a:solidFill>
                            <a:srgbClr val="E9E9E9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550" spc="-1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tinggi,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100330"/>
                </a:tc>
                <a:tc>
                  <a:txBody>
                    <a:bodyPr/>
                    <a:lstStyle/>
                    <a:p>
                      <a:pPr algn="ctr" marL="71755">
                        <a:lnSpc>
                          <a:spcPts val="3220"/>
                        </a:lnSpc>
                        <a:spcBef>
                          <a:spcPts val="640"/>
                        </a:spcBef>
                      </a:pPr>
                      <a:r>
                        <a:rPr dirty="0" sz="2700">
                          <a:solidFill>
                            <a:srgbClr val="E2E2E2"/>
                          </a:solidFill>
                          <a:latin typeface="Calibri"/>
                          <a:cs typeface="Calibri"/>
                        </a:rPr>
                        <a:t>dan</a:t>
                      </a:r>
                      <a:r>
                        <a:rPr dirty="0" sz="2700" spc="250">
                          <a:solidFill>
                            <a:srgbClr val="E2E2E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85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konsisten</a:t>
                      </a:r>
                      <a:r>
                        <a:rPr dirty="0" sz="2700" spc="400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5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di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81280"/>
                </a:tc>
                <a:tc>
                  <a:txBody>
                    <a:bodyPr/>
                    <a:lstStyle/>
                    <a:p>
                      <a:pPr algn="ctr" marR="734695">
                        <a:lnSpc>
                          <a:spcPts val="3220"/>
                        </a:lnSpc>
                        <a:spcBef>
                          <a:spcPts val="640"/>
                        </a:spcBef>
                      </a:pPr>
                      <a:r>
                        <a:rPr dirty="0" sz="2700" spc="95">
                          <a:solidFill>
                            <a:srgbClr val="EBEBEB"/>
                          </a:solidFill>
                          <a:latin typeface="Calibri"/>
                          <a:cs typeface="Calibri"/>
                        </a:rPr>
                        <a:t>Fokus</a:t>
                      </a:r>
                      <a:r>
                        <a:rPr dirty="0" sz="2700" spc="270">
                          <a:solidFill>
                            <a:srgbClr val="EBEBE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50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pada</a:t>
                      </a:r>
                      <a:r>
                        <a:rPr dirty="0" sz="2700" spc="175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40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kode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81280"/>
                </a:tc>
              </a:tr>
              <a:tr h="127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4650">
                <a:tc>
                  <a:txBody>
                    <a:bodyPr/>
                    <a:lstStyle/>
                    <a:p>
                      <a:pPr algn="ctr" marL="584835">
                        <a:lnSpc>
                          <a:spcPts val="2685"/>
                        </a:lnSpc>
                      </a:pPr>
                      <a:r>
                        <a:rPr dirty="0" sz="2700" spc="80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investasi</a:t>
                      </a:r>
                      <a:r>
                        <a:rPr dirty="0" sz="2700" spc="375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awal</a:t>
                      </a:r>
                      <a:r>
                        <a:rPr dirty="0" sz="2700" spc="225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50">
                          <a:solidFill>
                            <a:srgbClr val="E8E8E8"/>
                          </a:solidFill>
                          <a:latin typeface="Calibri"/>
                          <a:cs typeface="Calibri"/>
                        </a:rPr>
                        <a:t>besar.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2685"/>
                        </a:lnSpc>
                        <a:tabLst>
                          <a:tab pos="942340" algn="l"/>
                        </a:tabLst>
                      </a:pPr>
                      <a:r>
                        <a:rPr dirty="0" sz="2700" spc="-10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bayar</a:t>
                      </a:r>
                      <a:r>
                        <a:rPr dirty="0" sz="2700">
                          <a:solidFill>
                            <a:srgbClr val="E6E6E6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700" spc="95">
                          <a:solidFill>
                            <a:srgbClr val="E2E2E2"/>
                          </a:solidFill>
                          <a:latin typeface="Calibri"/>
                          <a:cs typeface="Calibri"/>
                        </a:rPr>
                        <a:t>sesuai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2069">
                        <a:lnSpc>
                          <a:spcPts val="2675"/>
                        </a:lnSpc>
                      </a:pPr>
                      <a:r>
                        <a:rPr dirty="0" sz="2550" spc="-1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berbagai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39140">
                        <a:lnSpc>
                          <a:spcPts val="2685"/>
                        </a:lnSpc>
                      </a:pPr>
                      <a:r>
                        <a:rPr dirty="0" sz="2950" spc="-10">
                          <a:solidFill>
                            <a:srgbClr val="EBEBEB"/>
                          </a:solidFill>
                          <a:latin typeface="Calibri"/>
                          <a:cs typeface="Calibri"/>
                        </a:rPr>
                        <a:t>(FaaS).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1D283B"/>
                    </a:solidFill>
                  </a:tcPr>
                </a:tc>
              </a:tr>
              <a:tr h="166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35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ts val="2435"/>
                        </a:lnSpc>
                      </a:pPr>
                      <a:r>
                        <a:rPr dirty="0" sz="2700" spc="-10">
                          <a:solidFill>
                            <a:srgbClr val="E2E2E2"/>
                          </a:solidFill>
                          <a:latin typeface="Consolas"/>
                          <a:cs typeface="Consolas"/>
                        </a:rPr>
                        <a:t>penggunaan.</a:t>
                      </a:r>
                      <a:endParaRPr sz="27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3020">
                        <a:lnSpc>
                          <a:spcPts val="2435"/>
                        </a:lnSpc>
                      </a:pPr>
                      <a:r>
                        <a:rPr dirty="0" sz="2700" spc="-10">
                          <a:solidFill>
                            <a:srgbClr val="EDEDED"/>
                          </a:solidFill>
                          <a:latin typeface="Calibri"/>
                          <a:cs typeface="Calibri"/>
                        </a:rPr>
                        <a:t>environment.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D28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1330" y="0"/>
            <a:ext cx="172769" cy="10994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706" y="0"/>
            <a:ext cx="20088860" cy="110489"/>
            <a:chOff x="15706" y="0"/>
            <a:chExt cx="20088860" cy="110489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0"/>
              <a:ext cx="4177883" cy="10994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0"/>
              <a:ext cx="20088393" cy="109944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15706" y="1240799"/>
            <a:ext cx="20088860" cy="659765"/>
            <a:chOff x="15706" y="1240799"/>
            <a:chExt cx="20088860" cy="659765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1240799"/>
              <a:ext cx="20088393" cy="65966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1240799"/>
              <a:ext cx="20088393" cy="659665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17751" y="5080997"/>
            <a:ext cx="4766870" cy="369098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15706" y="5057437"/>
            <a:ext cx="20088860" cy="393065"/>
            <a:chOff x="15706" y="5057437"/>
            <a:chExt cx="20088860" cy="393065"/>
          </a:xfrm>
        </p:grpSpPr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98612" y="5080997"/>
              <a:ext cx="4075792" cy="35339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06" y="5057437"/>
              <a:ext cx="20088393" cy="392658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15706" y="5999817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579805" y="5934762"/>
            <a:ext cx="683133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677795" algn="l"/>
              </a:tabLst>
            </a:pP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Dua</a:t>
            </a:r>
            <a:r>
              <a:rPr dirty="0" sz="2550" spc="-4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2E2E2"/>
                </a:solidFill>
                <a:latin typeface="Arial MT"/>
                <a:cs typeface="Arial MT"/>
              </a:rPr>
              <a:t>environment</a:t>
            </a:r>
            <a:r>
              <a:rPr dirty="0" sz="2550">
                <a:solidFill>
                  <a:srgbClr val="E2E2E2"/>
                </a:solidFill>
                <a:latin typeface="Arial MT"/>
                <a:cs typeface="Arial MT"/>
              </a:rPr>
              <a:t>	</a:t>
            </a:r>
            <a:r>
              <a:rPr dirty="0" sz="2550" spc="50">
                <a:solidFill>
                  <a:srgbClr val="E4E4E4"/>
                </a:solidFill>
                <a:latin typeface="Arial MT"/>
                <a:cs typeface="Arial MT"/>
              </a:rPr>
              <a:t>identik</a:t>
            </a:r>
            <a:r>
              <a:rPr dirty="0" sz="2550" spc="254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2E2E2"/>
                </a:solidFill>
                <a:latin typeface="Arial MT"/>
                <a:cs typeface="Arial MT"/>
              </a:rPr>
              <a:t>(Blue</a:t>
            </a:r>
            <a:r>
              <a:rPr dirty="0" sz="2550" spc="229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 spc="-310">
                <a:solidFill>
                  <a:srgbClr val="E2E2E2"/>
                </a:solidFill>
                <a:latin typeface="Arial MT"/>
                <a:cs typeface="Arial MT"/>
              </a:rPr>
              <a:t>&amp;</a:t>
            </a:r>
            <a:r>
              <a:rPr dirty="0" sz="2550" spc="14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1E1E1"/>
                </a:solidFill>
                <a:latin typeface="Arial MT"/>
                <a:cs typeface="Arial MT"/>
              </a:rPr>
              <a:t>Green).</a:t>
            </a:r>
            <a:r>
              <a:rPr dirty="0" sz="2550" spc="24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DFDFDF"/>
                </a:solidFill>
                <a:latin typeface="Arial MT"/>
                <a:cs typeface="Arial MT"/>
              </a:rPr>
              <a:t>Satu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159399" y="5918402"/>
            <a:ext cx="673290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25625" algn="l"/>
                <a:tab pos="3507104" algn="l"/>
              </a:tabLst>
            </a:pPr>
            <a:r>
              <a:rPr dirty="0" sz="2700" spc="-10">
                <a:solidFill>
                  <a:srgbClr val="E4E4E4"/>
                </a:solidFill>
                <a:latin typeface="Arial MT"/>
                <a:cs typeface="Arial MT"/>
              </a:rPr>
              <a:t>Pembaruan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	</a:t>
            </a:r>
            <a:r>
              <a:rPr dirty="0" sz="2700" spc="-10">
                <a:solidFill>
                  <a:srgbClr val="E4E4E4"/>
                </a:solidFill>
                <a:latin typeface="Arial MT"/>
                <a:cs typeface="Arial MT"/>
              </a:rPr>
              <a:t>ditetapkan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	</a:t>
            </a:r>
            <a:r>
              <a:rPr dirty="0" sz="2700" spc="-45">
                <a:solidFill>
                  <a:srgbClr val="E6E6E6"/>
                </a:solidFill>
                <a:latin typeface="Arial MT"/>
                <a:cs typeface="Arial MT"/>
              </a:rPr>
              <a:t>secara </a:t>
            </a:r>
            <a:r>
              <a:rPr dirty="0" sz="2700" spc="-20">
                <a:solidFill>
                  <a:srgbClr val="EDEDED"/>
                </a:solidFill>
                <a:latin typeface="Arial MT"/>
                <a:cs typeface="Arial MT"/>
              </a:rPr>
              <a:t>bertahao</a:t>
            </a:r>
            <a:r>
              <a:rPr dirty="0" sz="2700" spc="-1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2700" spc="-110">
                <a:solidFill>
                  <a:srgbClr val="E4E4E4"/>
                </a:solidFill>
                <a:latin typeface="Arial MT"/>
                <a:cs typeface="Arial MT"/>
              </a:rPr>
              <a:t>pada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5706" y="6533832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584559" y="6453726"/>
            <a:ext cx="643382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42085" algn="l"/>
                <a:tab pos="4622800" algn="l"/>
              </a:tabLst>
            </a:pPr>
            <a:r>
              <a:rPr dirty="0" sz="2450" spc="-10">
                <a:solidFill>
                  <a:srgbClr val="DDDDDD"/>
                </a:solidFill>
                <a:latin typeface="Arial MT"/>
                <a:cs typeface="Arial MT"/>
              </a:rPr>
              <a:t>melayani</a:t>
            </a:r>
            <a:r>
              <a:rPr dirty="0" sz="2450">
                <a:solidFill>
                  <a:srgbClr val="DDDDDD"/>
                </a:solidFill>
                <a:latin typeface="Arial MT"/>
                <a:cs typeface="Arial MT"/>
              </a:rPr>
              <a:t>	</a:t>
            </a:r>
            <a:r>
              <a:rPr dirty="0" sz="2450" spc="50">
                <a:solidFill>
                  <a:srgbClr val="DFDFDF"/>
                </a:solidFill>
                <a:latin typeface="Arial MT"/>
                <a:cs typeface="Arial MT"/>
              </a:rPr>
              <a:t>user,</a:t>
            </a:r>
            <a:r>
              <a:rPr dirty="0" sz="2450" spc="39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DBDBDB"/>
                </a:solidFill>
                <a:latin typeface="Arial MT"/>
                <a:cs typeface="Arial MT"/>
              </a:rPr>
              <a:t>satu</a:t>
            </a:r>
            <a:r>
              <a:rPr dirty="0" sz="2450" spc="38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DADADA"/>
                </a:solidFill>
                <a:latin typeface="Arial MT"/>
                <a:cs typeface="Arial MT"/>
              </a:rPr>
              <a:t>menerima</a:t>
            </a:r>
            <a:r>
              <a:rPr dirty="0" sz="2450">
                <a:solidFill>
                  <a:srgbClr val="DADADA"/>
                </a:solidFill>
                <a:latin typeface="Arial MT"/>
                <a:cs typeface="Arial MT"/>
              </a:rPr>
              <a:t>	</a:t>
            </a:r>
            <a:r>
              <a:rPr dirty="0" sz="2450" spc="75">
                <a:solidFill>
                  <a:srgbClr val="E8E8E8"/>
                </a:solidFill>
                <a:latin typeface="Arial MT"/>
                <a:cs typeface="Arial MT"/>
              </a:rPr>
              <a:t>u</a:t>
            </a:r>
            <a:r>
              <a:rPr dirty="0" sz="2450" spc="75">
                <a:solidFill>
                  <a:srgbClr val="D8D8D8"/>
                </a:solidFill>
                <a:latin typeface="Arial MT"/>
                <a:cs typeface="Arial MT"/>
              </a:rPr>
              <a:t>a</a:t>
            </a:r>
            <a:r>
              <a:rPr dirty="0" sz="2450" spc="75">
                <a:solidFill>
                  <a:srgbClr val="E6E6E6"/>
                </a:solidFill>
                <a:latin typeface="Arial MT"/>
                <a:cs typeface="Arial MT"/>
              </a:rPr>
              <a:t>date.</a:t>
            </a:r>
            <a:r>
              <a:rPr dirty="0" sz="2450" spc="254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E2E2E2"/>
                </a:solidFill>
                <a:latin typeface="Arial MT"/>
                <a:cs typeface="Arial MT"/>
              </a:rPr>
              <a:t>Jika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167991" y="6437365"/>
            <a:ext cx="638429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928495" algn="l"/>
              </a:tabLst>
            </a:pPr>
            <a:r>
              <a:rPr dirty="0" sz="2550" spc="-10">
                <a:solidFill>
                  <a:srgbClr val="E4E4E4"/>
                </a:solidFill>
                <a:latin typeface="Arial MT"/>
                <a:cs typeface="Arial MT"/>
              </a:rPr>
              <a:t>sekelompok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server.</a:t>
            </a:r>
            <a:r>
              <a:rPr dirty="0" sz="2550" spc="48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2E2E2"/>
                </a:solidFill>
                <a:latin typeface="Arial MT"/>
                <a:cs typeface="Arial MT"/>
              </a:rPr>
              <a:t>Aplikasi</a:t>
            </a:r>
            <a:r>
              <a:rPr dirty="0" sz="2550" spc="34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BDBDB"/>
                </a:solidFill>
                <a:latin typeface="Arial MT"/>
                <a:cs typeface="Arial MT"/>
              </a:rPr>
              <a:t>tetao</a:t>
            </a:r>
            <a:r>
              <a:rPr dirty="0" sz="2550" spc="34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DFDFDF"/>
                </a:solidFill>
                <a:latin typeface="Arial MT"/>
                <a:cs typeface="Arial MT"/>
              </a:rPr>
              <a:t>tersedia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5706" y="7036434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584119" y="6939967"/>
            <a:ext cx="662559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08325" algn="l"/>
                <a:tab pos="4610735" algn="l"/>
              </a:tabLst>
            </a:pPr>
            <a:r>
              <a:rPr dirty="0" sz="2550">
                <a:solidFill>
                  <a:srgbClr val="DBDBDB"/>
                </a:solidFill>
                <a:latin typeface="Arial MT"/>
                <a:cs typeface="Arial MT"/>
              </a:rPr>
              <a:t>update</a:t>
            </a:r>
            <a:r>
              <a:rPr dirty="0" sz="2550" spc="27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8D8D8"/>
                </a:solidFill>
                <a:latin typeface="Arial MT"/>
                <a:cs typeface="Arial MT"/>
              </a:rPr>
              <a:t>am</a:t>
            </a: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an,</a:t>
            </a:r>
            <a:r>
              <a:rPr dirty="0" sz="2550" spc="14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DDDDDD"/>
                </a:solidFill>
                <a:latin typeface="Arial MT"/>
                <a:cs typeface="Arial MT"/>
              </a:rPr>
              <a:t>traffic</a:t>
            </a: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E6E6E6"/>
                </a:solidFill>
                <a:latin typeface="Arial MT"/>
                <a:cs typeface="Arial MT"/>
              </a:rPr>
              <a:t>dialihkan.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E2E2E2"/>
                </a:solidFill>
                <a:latin typeface="Arial MT"/>
                <a:cs typeface="Arial MT"/>
              </a:rPr>
              <a:t>Memudah</a:t>
            </a:r>
            <a:r>
              <a:rPr dirty="0" sz="2550" spc="-25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E2E2E2"/>
                </a:solidFill>
                <a:latin typeface="Arial MT"/>
                <a:cs typeface="Arial MT"/>
              </a:rPr>
              <a:t>kan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167488" y="6923606"/>
            <a:ext cx="666750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559425" algn="l"/>
              </a:tabLst>
            </a:pPr>
            <a:r>
              <a:rPr dirty="0" sz="2700" spc="-65">
                <a:solidFill>
                  <a:srgbClr val="E6E6E6"/>
                </a:solidFill>
                <a:latin typeface="Arial MT"/>
                <a:cs typeface="Arial MT"/>
              </a:rPr>
              <a:t>selama</a:t>
            </a:r>
            <a:r>
              <a:rPr dirty="0" sz="2700" spc="4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FDFDF"/>
                </a:solidFill>
                <a:latin typeface="Arial MT"/>
                <a:cs typeface="Arial MT"/>
              </a:rPr>
              <a:t>proses,</a:t>
            </a:r>
            <a:r>
              <a:rPr dirty="0" sz="2700" spc="-4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700" spc="-30">
                <a:solidFill>
                  <a:srgbClr val="E9E9E9"/>
                </a:solidFill>
                <a:latin typeface="Arial MT"/>
                <a:cs typeface="Arial MT"/>
              </a:rPr>
              <a:t>mengurangi</a:t>
            </a:r>
            <a:r>
              <a:rPr dirty="0" sz="2700" spc="4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4E4E4"/>
                </a:solidFill>
                <a:latin typeface="Arial MT"/>
                <a:cs typeface="Arial MT"/>
              </a:rPr>
              <a:t>dampak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	</a:t>
            </a:r>
            <a:r>
              <a:rPr dirty="0" sz="2700" spc="-25">
                <a:solidFill>
                  <a:srgbClr val="DDDDDD"/>
                </a:solidFill>
                <a:latin typeface="Arial MT"/>
                <a:cs typeface="Arial MT"/>
              </a:rPr>
              <a:t>jika</a:t>
            </a:r>
            <a:r>
              <a:rPr dirty="0" sz="2700" spc="-12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700" spc="-140">
                <a:solidFill>
                  <a:srgbClr val="DDDDDD"/>
                </a:solidFill>
                <a:latin typeface="Arial MT"/>
                <a:cs typeface="Arial MT"/>
              </a:rPr>
              <a:t>ada</a:t>
            </a:r>
            <a:endParaRPr sz="2700">
              <a:latin typeface="Arial MT"/>
              <a:cs typeface="Arial MT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5706" y="7539037"/>
            <a:ext cx="20088860" cy="267335"/>
            <a:chOff x="15706" y="7539037"/>
            <a:chExt cx="20088860" cy="267335"/>
          </a:xfrm>
        </p:grpSpPr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167199" y="7648981"/>
              <a:ext cx="4209295" cy="94237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06227" y="7586156"/>
              <a:ext cx="4209295" cy="21988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06" y="7539037"/>
              <a:ext cx="20088393" cy="2670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1330" y="0"/>
            <a:ext cx="172769" cy="10994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706" y="0"/>
            <a:ext cx="20088860" cy="110489"/>
            <a:chOff x="15706" y="0"/>
            <a:chExt cx="20088860" cy="110489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0"/>
              <a:ext cx="4177883" cy="10994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0"/>
              <a:ext cx="20088393" cy="109944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15706" y="1240799"/>
            <a:ext cx="20088860" cy="644525"/>
            <a:chOff x="15706" y="1240799"/>
            <a:chExt cx="20088860" cy="644525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1240799"/>
              <a:ext cx="20088393" cy="64395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1240799"/>
              <a:ext cx="20088393" cy="643959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15706" y="4413478"/>
            <a:ext cx="20080605" cy="4343400"/>
          </a:xfrm>
          <a:custGeom>
            <a:avLst/>
            <a:gdLst/>
            <a:ahLst/>
            <a:cxnLst/>
            <a:rect l="l" t="t" r="r" b="b"/>
            <a:pathLst>
              <a:path w="20080605" h="4343400">
                <a:moveTo>
                  <a:pt x="20080541" y="4342799"/>
                </a:moveTo>
                <a:lnTo>
                  <a:pt x="0" y="434279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342799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398929" y="4226045"/>
            <a:ext cx="8142605" cy="4511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 marR="5080" indent="3810">
              <a:lnSpc>
                <a:spcPct val="122100"/>
              </a:lnSpc>
              <a:spcBef>
                <a:spcPts val="100"/>
              </a:spcBef>
              <a:tabLst>
                <a:tab pos="1227455" algn="l"/>
                <a:tab pos="5802630" algn="l"/>
                <a:tab pos="7367270" algn="l"/>
              </a:tabLst>
            </a:pPr>
            <a:r>
              <a:rPr dirty="0" sz="2700" spc="-45">
                <a:solidFill>
                  <a:srgbClr val="DDDDDD"/>
                </a:solidFill>
                <a:latin typeface="Arial MT"/>
                <a:cs typeface="Arial MT"/>
              </a:rPr>
              <a:t>Canary</a:t>
            </a:r>
            <a:r>
              <a:rPr dirty="0" sz="2700" spc="-13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9E9E9"/>
                </a:solidFill>
                <a:latin typeface="Arial MT"/>
                <a:cs typeface="Arial MT"/>
              </a:rPr>
              <a:t>Deployment:</a:t>
            </a:r>
            <a:r>
              <a:rPr dirty="0" sz="2700" spc="-3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2700" spc="-40">
                <a:solidFill>
                  <a:srgbClr val="E1E1E1"/>
                </a:solidFill>
                <a:latin typeface="Arial MT"/>
                <a:cs typeface="Arial MT"/>
              </a:rPr>
              <a:t>Rilis</a:t>
            </a:r>
            <a:r>
              <a:rPr dirty="0" sz="2700" spc="-5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BDBDB"/>
                </a:solidFill>
                <a:latin typeface="Arial MT"/>
                <a:cs typeface="Arial MT"/>
              </a:rPr>
              <a:t>ke</a:t>
            </a:r>
            <a:r>
              <a:rPr dirty="0" sz="2700" spc="-5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8E8E8"/>
                </a:solidFill>
                <a:latin typeface="Arial MT"/>
                <a:cs typeface="Arial MT"/>
              </a:rPr>
              <a:t>sebagian</a:t>
            </a:r>
            <a:r>
              <a:rPr dirty="0" sz="2700">
                <a:solidFill>
                  <a:srgbClr val="E8E8E8"/>
                </a:solidFill>
                <a:latin typeface="Arial MT"/>
                <a:cs typeface="Arial MT"/>
              </a:rPr>
              <a:t>	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kecil</a:t>
            </a:r>
            <a:r>
              <a:rPr dirty="0" sz="2700" spc="-6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E4E4E4"/>
                </a:solidFill>
                <a:latin typeface="Arial MT"/>
                <a:cs typeface="Arial MT"/>
              </a:rPr>
              <a:t>user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	</a:t>
            </a:r>
            <a:r>
              <a:rPr dirty="0" sz="2700" spc="-75">
                <a:solidFill>
                  <a:srgbClr val="DFDFDF"/>
                </a:solidFill>
                <a:latin typeface="Arial MT"/>
                <a:cs typeface="Arial MT"/>
              </a:rPr>
              <a:t>(grup </a:t>
            </a:r>
            <a:r>
              <a:rPr dirty="0" sz="2700" spc="-10">
                <a:solidFill>
                  <a:srgbClr val="E2E2E2"/>
                </a:solidFill>
                <a:latin typeface="Arial MT"/>
                <a:cs typeface="Arial MT"/>
              </a:rPr>
              <a:t>canary)</a:t>
            </a:r>
            <a:r>
              <a:rPr dirty="0" sz="2700">
                <a:solidFill>
                  <a:srgbClr val="E2E2E2"/>
                </a:solidFill>
                <a:latin typeface="Arial MT"/>
                <a:cs typeface="Arial MT"/>
              </a:rPr>
              <a:t>	</a:t>
            </a:r>
            <a:r>
              <a:rPr dirty="0" sz="2700" spc="-25">
                <a:solidFill>
                  <a:srgbClr val="DFDFDF"/>
                </a:solidFill>
                <a:latin typeface="Arial MT"/>
                <a:cs typeface="Arial MT"/>
              </a:rPr>
              <a:t>dahulu.</a:t>
            </a:r>
            <a:r>
              <a:rPr dirty="0" sz="2700" spc="-3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Jika</a:t>
            </a:r>
            <a:r>
              <a:rPr dirty="0" sz="2700" spc="-1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8E8E8"/>
                </a:solidFill>
                <a:latin typeface="Arial MT"/>
                <a:cs typeface="Arial MT"/>
              </a:rPr>
              <a:t>stabil,</a:t>
            </a:r>
            <a:r>
              <a:rPr dirty="0" sz="2700" spc="-4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FDFDF"/>
                </a:solidFill>
                <a:latin typeface="Arial MT"/>
                <a:cs typeface="Arial MT"/>
              </a:rPr>
              <a:t>baru</a:t>
            </a:r>
            <a:r>
              <a:rPr dirty="0" sz="2700" spc="-3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4E4E4"/>
                </a:solidFill>
                <a:latin typeface="Arial MT"/>
                <a:cs typeface="Arial MT"/>
              </a:rPr>
              <a:t>dirilis</a:t>
            </a:r>
            <a:r>
              <a:rPr dirty="0" sz="2700" spc="-4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DFDFDF"/>
                </a:solidFill>
                <a:latin typeface="Arial MT"/>
                <a:cs typeface="Arial MT"/>
              </a:rPr>
              <a:t>ke</a:t>
            </a:r>
            <a:r>
              <a:rPr dirty="0" sz="2700" spc="-3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DFDFDF"/>
                </a:solidFill>
                <a:latin typeface="Arial MT"/>
                <a:cs typeface="Arial MT"/>
              </a:rPr>
              <a:t>semua.</a:t>
            </a:r>
            <a:endParaRPr sz="2700">
              <a:latin typeface="Arial MT"/>
              <a:cs typeface="Arial MT"/>
            </a:endParaRPr>
          </a:p>
          <a:p>
            <a:pPr marL="25400" marR="234315" indent="5080">
              <a:lnSpc>
                <a:spcPct val="134600"/>
              </a:lnSpc>
              <a:spcBef>
                <a:spcPts val="1805"/>
              </a:spcBef>
              <a:tabLst>
                <a:tab pos="1360805" algn="l"/>
                <a:tab pos="4878070" algn="l"/>
                <a:tab pos="5979160" algn="l"/>
                <a:tab pos="6024880" algn="l"/>
              </a:tabLst>
            </a:pPr>
            <a:r>
              <a:rPr dirty="0" sz="2450" spc="85">
                <a:solidFill>
                  <a:srgbClr val="E2E2E2"/>
                </a:solidFill>
                <a:latin typeface="Arial MT"/>
                <a:cs typeface="Arial MT"/>
              </a:rPr>
              <a:t>A/B</a:t>
            </a:r>
            <a:r>
              <a:rPr dirty="0" sz="2450" spc="4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450" spc="60">
                <a:solidFill>
                  <a:srgbClr val="E1E1E1"/>
                </a:solidFill>
                <a:latin typeface="Arial MT"/>
                <a:cs typeface="Arial MT"/>
              </a:rPr>
              <a:t>Testing:</a:t>
            </a:r>
            <a:r>
              <a:rPr dirty="0" sz="2450" spc="254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450" spc="70">
                <a:solidFill>
                  <a:srgbClr val="E4E4E4"/>
                </a:solidFill>
                <a:latin typeface="Arial MT"/>
                <a:cs typeface="Arial MT"/>
              </a:rPr>
              <a:t>Merilis</a:t>
            </a:r>
            <a:r>
              <a:rPr dirty="0" sz="2450" spc="28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DDDDDD"/>
                </a:solidFill>
                <a:latin typeface="Arial MT"/>
                <a:cs typeface="Arial MT"/>
              </a:rPr>
              <a:t>dua</a:t>
            </a:r>
            <a:r>
              <a:rPr dirty="0" sz="2450" spc="28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450" spc="75">
                <a:solidFill>
                  <a:srgbClr val="DFDFDF"/>
                </a:solidFill>
                <a:latin typeface="Arial MT"/>
                <a:cs typeface="Arial MT"/>
              </a:rPr>
              <a:t>versi</a:t>
            </a:r>
            <a:r>
              <a:rPr dirty="0" sz="2450" spc="28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D1D1D1"/>
                </a:solidFill>
                <a:latin typeface="Arial MT"/>
                <a:cs typeface="Arial MT"/>
              </a:rPr>
              <a:t>(A</a:t>
            </a:r>
            <a:r>
              <a:rPr dirty="0" sz="2450" spc="260">
                <a:solidFill>
                  <a:srgbClr val="D1D1D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1E1E1"/>
                </a:solidFill>
                <a:latin typeface="Arial MT"/>
                <a:cs typeface="Arial MT"/>
              </a:rPr>
              <a:t>dan</a:t>
            </a:r>
            <a:r>
              <a:rPr dirty="0" sz="2450" spc="26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E6E6E6"/>
                </a:solidFill>
                <a:latin typeface="Arial MT"/>
                <a:cs typeface="Arial MT"/>
              </a:rPr>
              <a:t>B)</a:t>
            </a:r>
            <a:r>
              <a:rPr dirty="0" sz="2450">
                <a:solidFill>
                  <a:srgbClr val="E6E6E6"/>
                </a:solidFill>
                <a:latin typeface="Arial MT"/>
                <a:cs typeface="Arial MT"/>
              </a:rPr>
              <a:t>		</a:t>
            </a:r>
            <a:r>
              <a:rPr dirty="0" sz="2450">
                <a:solidFill>
                  <a:srgbClr val="DFDFDF"/>
                </a:solidFill>
                <a:latin typeface="Arial MT"/>
                <a:cs typeface="Arial MT"/>
              </a:rPr>
              <a:t>ke</a:t>
            </a:r>
            <a:r>
              <a:rPr dirty="0" sz="2450" spc="24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450" spc="60">
                <a:solidFill>
                  <a:srgbClr val="E4E4E4"/>
                </a:solidFill>
                <a:latin typeface="Arial MT"/>
                <a:cs typeface="Arial MT"/>
              </a:rPr>
              <a:t>grup </a:t>
            </a:r>
            <a:r>
              <a:rPr dirty="0" sz="2450" spc="35">
                <a:solidFill>
                  <a:srgbClr val="E2E2E2"/>
                </a:solidFill>
                <a:latin typeface="Arial MT"/>
                <a:cs typeface="Arial MT"/>
              </a:rPr>
              <a:t>berbeda</a:t>
            </a:r>
            <a:r>
              <a:rPr dirty="0" sz="2450">
                <a:solidFill>
                  <a:srgbClr val="E2E2E2"/>
                </a:solidFill>
                <a:latin typeface="Arial MT"/>
                <a:cs typeface="Arial MT"/>
              </a:rPr>
              <a:t>	</a:t>
            </a:r>
            <a:r>
              <a:rPr dirty="0" sz="2450" spc="80">
                <a:solidFill>
                  <a:srgbClr val="DBDBDB"/>
                </a:solidFill>
                <a:latin typeface="Arial MT"/>
                <a:cs typeface="Arial MT"/>
              </a:rPr>
              <a:t>untuk</a:t>
            </a:r>
            <a:r>
              <a:rPr dirty="0" sz="2450" spc="31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450" spc="40">
                <a:solidFill>
                  <a:srgbClr val="E6E6E6"/>
                </a:solidFill>
                <a:latin typeface="Arial MT"/>
                <a:cs typeface="Arial MT"/>
              </a:rPr>
              <a:t>membandingkan</a:t>
            </a:r>
            <a:r>
              <a:rPr dirty="0" sz="2450">
                <a:solidFill>
                  <a:srgbClr val="E6E6E6"/>
                </a:solidFill>
                <a:latin typeface="Arial MT"/>
                <a:cs typeface="Arial MT"/>
              </a:rPr>
              <a:t>	</a:t>
            </a:r>
            <a:r>
              <a:rPr dirty="0" sz="2450" spc="35">
                <a:solidFill>
                  <a:srgbClr val="DDDDDD"/>
                </a:solidFill>
                <a:latin typeface="Arial MT"/>
                <a:cs typeface="Arial MT"/>
              </a:rPr>
              <a:t>kinerja</a:t>
            </a:r>
            <a:r>
              <a:rPr dirty="0" sz="2450">
                <a:solidFill>
                  <a:srgbClr val="DDDDDD"/>
                </a:solidFill>
                <a:latin typeface="Arial MT"/>
                <a:cs typeface="Arial MT"/>
              </a:rPr>
              <a:t>	</a:t>
            </a:r>
            <a:r>
              <a:rPr dirty="0" sz="2450">
                <a:solidFill>
                  <a:srgbClr val="DFDFDF"/>
                </a:solidFill>
                <a:latin typeface="Arial MT"/>
                <a:cs typeface="Arial MT"/>
              </a:rPr>
              <a:t>atau</a:t>
            </a:r>
            <a:r>
              <a:rPr dirty="0" sz="2450" spc="33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450" spc="60">
                <a:solidFill>
                  <a:srgbClr val="DDDDDD"/>
                </a:solidFill>
                <a:latin typeface="Arial MT"/>
                <a:cs typeface="Arial MT"/>
              </a:rPr>
              <a:t>respons </a:t>
            </a:r>
            <a:r>
              <a:rPr dirty="0" sz="2450" spc="-10">
                <a:solidFill>
                  <a:srgbClr val="E4E4E4"/>
                </a:solidFill>
                <a:latin typeface="Arial MT"/>
                <a:cs typeface="Arial MT"/>
              </a:rPr>
              <a:t>user.</a:t>
            </a:r>
            <a:endParaRPr sz="2450">
              <a:latin typeface="Arial MT"/>
              <a:cs typeface="Arial MT"/>
            </a:endParaRPr>
          </a:p>
          <a:p>
            <a:pPr algn="just" marL="25400" marR="977900" indent="-13335">
              <a:lnSpc>
                <a:spcPct val="134600"/>
              </a:lnSpc>
              <a:spcBef>
                <a:spcPts val="1855"/>
              </a:spcBef>
            </a:pPr>
            <a:r>
              <a:rPr dirty="0" sz="2450">
                <a:solidFill>
                  <a:srgbClr val="EDEDED"/>
                </a:solidFill>
                <a:latin typeface="Arial MT"/>
                <a:cs typeface="Arial MT"/>
              </a:rPr>
              <a:t>Feature</a:t>
            </a:r>
            <a:r>
              <a:rPr dirty="0" sz="2450" spc="254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E4E4E4"/>
                </a:solidFill>
                <a:latin typeface="Arial MT"/>
                <a:cs typeface="Arial MT"/>
              </a:rPr>
              <a:t>Toggle:</a:t>
            </a:r>
            <a:r>
              <a:rPr dirty="0" sz="2450" spc="32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E8E8E8"/>
                </a:solidFill>
                <a:latin typeface="Arial MT"/>
                <a:cs typeface="Arial MT"/>
              </a:rPr>
              <a:t>Menggunakan</a:t>
            </a:r>
            <a:r>
              <a:rPr dirty="0" sz="2450" spc="57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450" spc="70">
                <a:solidFill>
                  <a:srgbClr val="E8E8E8"/>
                </a:solidFill>
                <a:latin typeface="Arial MT"/>
                <a:cs typeface="Arial MT"/>
              </a:rPr>
              <a:t>konfigurasi</a:t>
            </a:r>
            <a:r>
              <a:rPr dirty="0" sz="2450" spc="48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DFDFDF"/>
                </a:solidFill>
                <a:latin typeface="Arial MT"/>
                <a:cs typeface="Arial MT"/>
              </a:rPr>
              <a:t>kode </a:t>
            </a:r>
            <a:r>
              <a:rPr dirty="0" sz="2450">
                <a:solidFill>
                  <a:srgbClr val="DFDFDF"/>
                </a:solidFill>
                <a:latin typeface="Arial MT"/>
                <a:cs typeface="Arial MT"/>
              </a:rPr>
              <a:t>(flags)</a:t>
            </a:r>
            <a:r>
              <a:rPr dirty="0" sz="2450" spc="20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450" spc="10">
                <a:solidFill>
                  <a:srgbClr val="E4E4E4"/>
                </a:solidFill>
                <a:latin typeface="Arial MT"/>
                <a:cs typeface="Arial MT"/>
              </a:rPr>
              <a:t>untu</a:t>
            </a:r>
            <a:r>
              <a:rPr dirty="0" sz="2450" spc="-17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1E1E1"/>
                </a:solidFill>
                <a:latin typeface="Arial MT"/>
                <a:cs typeface="Arial MT"/>
              </a:rPr>
              <a:t>k</a:t>
            </a:r>
            <a:r>
              <a:rPr dirty="0" sz="2450" spc="34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450" spc="70">
                <a:solidFill>
                  <a:srgbClr val="E6E6E6"/>
                </a:solidFill>
                <a:latin typeface="Arial MT"/>
                <a:cs typeface="Arial MT"/>
              </a:rPr>
              <a:t>mematikan/menyatakan</a:t>
            </a:r>
            <a:r>
              <a:rPr dirty="0" sz="2450" spc="27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450" spc="85">
                <a:solidFill>
                  <a:srgbClr val="E4E4E4"/>
                </a:solidFill>
                <a:latin typeface="Arial MT"/>
                <a:cs typeface="Arial MT"/>
              </a:rPr>
              <a:t>fitur</a:t>
            </a:r>
            <a:r>
              <a:rPr dirty="0" sz="2450" spc="47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E2E2E2"/>
                </a:solidFill>
                <a:latin typeface="Arial MT"/>
                <a:cs typeface="Arial MT"/>
              </a:rPr>
              <a:t>tanoa </a:t>
            </a:r>
            <a:r>
              <a:rPr dirty="0" sz="2450" spc="70">
                <a:solidFill>
                  <a:srgbClr val="E2E2E2"/>
                </a:solidFill>
                <a:latin typeface="Arial MT"/>
                <a:cs typeface="Arial MT"/>
              </a:rPr>
              <a:t>redeoloy</a:t>
            </a:r>
            <a:r>
              <a:rPr dirty="0" sz="2450" spc="33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E1E1E1"/>
                </a:solidFill>
                <a:latin typeface="Arial MT"/>
                <a:cs typeface="Arial MT"/>
              </a:rPr>
              <a:t>ulang.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1330" y="0"/>
            <a:ext cx="172769" cy="10994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706" y="0"/>
            <a:ext cx="20088860" cy="110489"/>
            <a:chOff x="15706" y="0"/>
            <a:chExt cx="20088860" cy="110489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0"/>
              <a:ext cx="4177883" cy="10994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0"/>
              <a:ext cx="20088393" cy="109944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15706" y="1240799"/>
            <a:ext cx="20088860" cy="659765"/>
            <a:chOff x="15706" y="1240799"/>
            <a:chExt cx="20088860" cy="659765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1240799"/>
              <a:ext cx="20088393" cy="65966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1240799"/>
              <a:ext cx="20088393" cy="659665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15706" y="4130764"/>
            <a:ext cx="20088860" cy="408940"/>
            <a:chOff x="15706" y="4130764"/>
            <a:chExt cx="20088860" cy="408940"/>
          </a:xfrm>
        </p:grpSpPr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4130764"/>
              <a:ext cx="20088393" cy="40836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06" y="4130764"/>
              <a:ext cx="20088393" cy="408364"/>
            </a:xfrm>
            <a:prstGeom prst="rect">
              <a:avLst/>
            </a:prstGeom>
          </p:spPr>
        </p:pic>
      </p:grpSp>
      <p:sp>
        <p:nvSpPr>
          <p:cNvPr id="12" name="object 12" descr=""/>
          <p:cNvSpPr/>
          <p:nvPr/>
        </p:nvSpPr>
        <p:spPr>
          <a:xfrm>
            <a:off x="15706" y="5308738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048622" y="5227323"/>
            <a:ext cx="81978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100">
                <a:solidFill>
                  <a:srgbClr val="E4E4E4"/>
                </a:solidFill>
                <a:latin typeface="Calibri"/>
                <a:cs typeface="Calibri"/>
              </a:rPr>
              <a:t>Skala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458977" y="5210962"/>
            <a:ext cx="637730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787265" algn="l"/>
              </a:tabLst>
            </a:pPr>
            <a:r>
              <a:rPr dirty="0" sz="2800">
                <a:solidFill>
                  <a:srgbClr val="DFDFDF"/>
                </a:solidFill>
                <a:latin typeface="Calibri"/>
                <a:cs typeface="Calibri"/>
              </a:rPr>
              <a:t>Server</a:t>
            </a:r>
            <a:r>
              <a:rPr dirty="0" sz="2800" spc="60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E2E2E2"/>
                </a:solidFill>
                <a:latin typeface="Calibri"/>
                <a:cs typeface="Calibri"/>
              </a:rPr>
              <a:t>Lokal</a:t>
            </a:r>
            <a:r>
              <a:rPr dirty="0" sz="2800" spc="470">
                <a:solidFill>
                  <a:srgbClr val="E2E2E2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E4E4E4"/>
                </a:solidFill>
                <a:latin typeface="Calibri"/>
                <a:cs typeface="Calibri"/>
              </a:rPr>
              <a:t>(XAMPP),</a:t>
            </a:r>
            <a:r>
              <a:rPr dirty="0" sz="2800" spc="580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E4E4E4"/>
                </a:solidFill>
                <a:latin typeface="Calibri"/>
                <a:cs typeface="Calibri"/>
              </a:rPr>
              <a:t>Hosting</a:t>
            </a:r>
            <a:r>
              <a:rPr dirty="0" sz="2800">
                <a:solidFill>
                  <a:srgbClr val="E4E4E4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E6E6E6"/>
                </a:solidFill>
                <a:latin typeface="Calibri"/>
                <a:cs typeface="Calibri"/>
              </a:rPr>
              <a:t>Sederhana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475136" y="5210962"/>
            <a:ext cx="579945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896870" algn="l"/>
                <a:tab pos="4813300" algn="l"/>
              </a:tabLst>
            </a:pPr>
            <a:r>
              <a:rPr dirty="0" sz="2800">
                <a:solidFill>
                  <a:srgbClr val="E6E6E6"/>
                </a:solidFill>
                <a:latin typeface="Calibri"/>
                <a:cs typeface="Calibri"/>
              </a:rPr>
              <a:t>Cloud</a:t>
            </a:r>
            <a:r>
              <a:rPr dirty="0" sz="2800" spc="455">
                <a:solidFill>
                  <a:srgbClr val="E6E6E6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E6E6E6"/>
                </a:solidFill>
                <a:latin typeface="Calibri"/>
                <a:cs typeface="Calibri"/>
              </a:rPr>
              <a:t>(AWS/GCP),</a:t>
            </a:r>
            <a:r>
              <a:rPr dirty="0" sz="2800">
                <a:solidFill>
                  <a:srgbClr val="E6E6E6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E6E6E6"/>
                </a:solidFill>
                <a:latin typeface="Calibri"/>
                <a:cs typeface="Calibri"/>
              </a:rPr>
              <a:t>Kubernetes,</a:t>
            </a:r>
            <a:r>
              <a:rPr dirty="0" sz="2800">
                <a:solidFill>
                  <a:srgbClr val="E6E6E6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E2E2E2"/>
                </a:solidFill>
                <a:latin typeface="Calibri"/>
                <a:cs typeface="Calibri"/>
              </a:rPr>
              <a:t>Hybrid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5706" y="6455300"/>
            <a:ext cx="20088860" cy="361315"/>
            <a:chOff x="15706" y="6455300"/>
            <a:chExt cx="20088860" cy="361315"/>
          </a:xfrm>
        </p:grpSpPr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701214" y="6455300"/>
              <a:ext cx="4554835" cy="32983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83553" y="6533832"/>
              <a:ext cx="4209295" cy="157063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14592" y="6471007"/>
              <a:ext cx="4397771" cy="314126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06" y="6455300"/>
              <a:ext cx="20088393" cy="361245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15706" y="7633275"/>
            <a:ext cx="20088860" cy="346075"/>
            <a:chOff x="15706" y="7633275"/>
            <a:chExt cx="20088860" cy="346075"/>
          </a:xfrm>
        </p:grpSpPr>
        <p:pic>
          <p:nvPicPr>
            <p:cNvPr id="22" name="object 2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266642" y="7696100"/>
              <a:ext cx="3392566" cy="9423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49913" y="7821751"/>
              <a:ext cx="4209295" cy="15706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318875" y="7758925"/>
              <a:ext cx="3785225" cy="21988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266642" y="7696100"/>
              <a:ext cx="3392566" cy="94237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49913" y="7821751"/>
              <a:ext cx="4209295" cy="157063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46004" y="7633275"/>
              <a:ext cx="4586247" cy="34553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706" y="7633275"/>
              <a:ext cx="20088393" cy="345539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15706" y="8764130"/>
            <a:ext cx="20088860" cy="346075"/>
            <a:chOff x="15706" y="8764130"/>
            <a:chExt cx="20088860" cy="346075"/>
          </a:xfrm>
        </p:grpSpPr>
        <p:pic>
          <p:nvPicPr>
            <p:cNvPr id="30" name="object 3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072778" y="8889781"/>
              <a:ext cx="3031321" cy="94237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900283" y="8826956"/>
              <a:ext cx="4209295" cy="157063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51767" y="8826956"/>
              <a:ext cx="4209295" cy="219888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549356" y="8764130"/>
              <a:ext cx="4209295" cy="314126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706" y="8764130"/>
              <a:ext cx="20088393" cy="3455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2025-11-23T01:13:19Z</dcterms:created>
  <dcterms:modified xsi:type="dcterms:W3CDTF">2025-11-23T01:13:19Z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2025-11-22T00:00:00Z</vt:filetime>
  </property>
  <property fmtid="{D5CDD505-2E9C-101B-9397-08002B2CF9AE}" pid="3" name="LastSaved">
    <vt:filetime>2025-11-23T00:00:00Z</vt:filetime>
  </property>
</Properties>
</file>